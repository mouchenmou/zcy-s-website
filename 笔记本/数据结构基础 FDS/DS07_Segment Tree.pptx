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19" r:id="rId3"/>
    <p:sldId id="326" r:id="rId4"/>
    <p:sldId id="328" r:id="rId5"/>
    <p:sldId id="330" r:id="rId6"/>
    <p:sldId id="329" r:id="rId7"/>
    <p:sldId id="332" r:id="rId8"/>
    <p:sldId id="333" r:id="rId9"/>
    <p:sldId id="327" r:id="rId10"/>
    <p:sldId id="331" r:id="rId1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70C0"/>
    <a:srgbClr val="7F7F7F"/>
    <a:srgbClr val="0432FF"/>
    <a:srgbClr val="B3CDE3"/>
    <a:srgbClr val="FFFFFF"/>
    <a:srgbClr val="F2F2F2"/>
    <a:srgbClr val="DECBE4"/>
    <a:srgbClr val="FDDAEC"/>
    <a:srgbClr val="CCEB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56"/>
    <p:restoredTop sz="94660"/>
  </p:normalViewPr>
  <p:slideViewPr>
    <p:cSldViewPr>
      <p:cViewPr varScale="1">
        <p:scale>
          <a:sx n="172" d="100"/>
          <a:sy n="172" d="100"/>
        </p:scale>
        <p:origin x="3024" y="208"/>
      </p:cViewPr>
      <p:guideLst>
        <p:guide orient="horz" pos="35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18DECA-E9A8-48BE-3D5B-877A8320D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EF55FB-503D-CB05-7650-792B5A8DA5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E09142-E232-D65E-05CC-4B6D211D7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82020-B0B7-314D-BE50-80609B9721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18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AE4F0E-186E-E15A-0E97-9A7A3F2B4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FB6A61-0761-0B38-F0BC-C59C2A78F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7B2D00-60D6-FB6C-7237-AFE34D624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CA9B9-09C5-6C43-BE34-BD753B60B9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704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6569C-2E63-F581-7C5B-5AA41B10CD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66E858-3519-66E2-62DE-14B179F2E9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DF5DC-71CB-7653-D156-0AE67B8540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C2707-A45C-7B47-B726-BBD1B0CB79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272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BC5B3B-619C-DD29-394A-CFA99FA0DB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B4C31-0FB7-24FB-3803-E9BCDA63B6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1D424-07A2-99E5-33DA-44BBD3DE3D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8B168-1E79-E649-AC2F-798DF4353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590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3F8DF4-D320-999A-0B52-7B92AEC19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4E5A0E5-B1C1-014C-BB26-C477241BE3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4D5F27-C29C-8248-FF83-57AFDE3E3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F23AF-C8E0-F64E-8B40-E0C4F2E1D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02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30B26D5-187E-ED81-C65A-DF12268872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6DDDA1-13CA-8EE1-BA60-08CEBAC5CE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71796F3-717A-2F02-47B7-735E8E7F91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AD28C5-E7AA-524C-BADF-D32E7556FC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484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D7562BC-878E-1CE0-8F59-C9866E2F53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0A5924-8D03-F707-D17C-92CA27AC6C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44C2C4-9AC1-F0BD-A44E-7D6329A7D3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948E1-EF36-904B-8FAB-42C1F79CE8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09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83663-FD62-4917-058C-355C18536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820C4-D2BC-40C1-9120-DE0DE4D24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C4277-5554-A626-3DDA-7649F6670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B2813-F849-9E45-9595-24B32DC05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69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998CC-B2AF-574C-1EAA-BE28092373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6F277-D1F3-606F-9F6D-3649BD3026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FFC5D-89D9-140E-0B15-0168D5AED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91B60-704D-D740-9AFC-C7DE945DB6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383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324165-930D-E3D7-2448-25A7C9592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6AC77C-FE5E-A33E-6691-3254C080D7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69A642-3B1F-1E1C-E4AF-DA3D59870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472E4-E93A-A343-AFC0-2276E5F0FD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113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FAD5EF-4B97-3A08-8F0B-1615881B5C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F8116D-B04F-2C18-F279-A47FE439F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CBD7FD-CA74-7EEE-20EA-CA88E6149F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54D2A-BDAC-F544-B02A-DAC2B1CEE2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94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D10F8A-7DBE-A1EB-EDAA-C0F8284B4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26C95C-6BCF-407F-6879-FFFF03365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EC3B31-5297-9B71-E80F-C498FF5D19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C3BB2D-9082-25E2-F08A-78A78FC5A7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94B0F11-66A9-9F8C-7D28-B8B82B206C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804B8DBE-4F7E-EF46-9136-5192A4C5BC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motivation</a:t>
            </a:r>
            <a:endParaRPr lang="en-US" altLang="zh-CN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E05DB-D7A3-5A40-651A-2422B9DC6D63}"/>
              </a:ext>
            </a:extLst>
          </p:cNvPr>
          <p:cNvSpPr txBox="1"/>
          <p:nvPr/>
        </p:nvSpPr>
        <p:spPr>
          <a:xfrm>
            <a:off x="503548" y="909350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/>
              <a:t>Given an array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A[1000000]</a:t>
            </a:r>
            <a:r>
              <a:rPr lang="en-US" altLang="zh-CN" sz="2000" dirty="0"/>
              <a:t>, and we need to </a:t>
            </a:r>
            <a:r>
              <a:rPr lang="en-US" altLang="zh-CN" sz="2000" i="1" dirty="0"/>
              <a:t>frequently </a:t>
            </a:r>
            <a:r>
              <a:rPr lang="en-US" altLang="zh-CN" sz="2000" dirty="0"/>
              <a:t>c</a:t>
            </a:r>
            <a:r>
              <a:rPr lang="en-US" sz="2000" dirty="0"/>
              <a:t>alculate the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US" sz="2000" dirty="0"/>
              <a:t> of the numbers in an arbitrary </a:t>
            </a:r>
            <a:r>
              <a:rPr lang="en-US" sz="2000" i="1" dirty="0">
                <a:solidFill>
                  <a:srgbClr val="FF0000"/>
                </a:solidFill>
              </a:rPr>
              <a:t>range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[L, R]</a:t>
            </a:r>
            <a:r>
              <a:rPr lang="en-US" altLang="zh-CN" sz="2000" dirty="0"/>
              <a:t>.</a:t>
            </a:r>
            <a:endParaRPr lang="en-US" altLang="zh-CN" sz="2000" dirty="0">
              <a:solidFill>
                <a:srgbClr val="0070C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3552E8-5E01-8716-BCD0-E01CCFCB1AF5}"/>
              </a:ext>
            </a:extLst>
          </p:cNvPr>
          <p:cNvGrpSpPr/>
          <p:nvPr/>
        </p:nvGrpSpPr>
        <p:grpSpPr>
          <a:xfrm>
            <a:off x="395536" y="1988840"/>
            <a:ext cx="8496944" cy="1685801"/>
            <a:chOff x="395536" y="2708920"/>
            <a:chExt cx="8496944" cy="16858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32BE0F-61C7-1BDE-4334-32620BB22750}"/>
                </a:ext>
              </a:extLst>
            </p:cNvPr>
            <p:cNvSpPr/>
            <p:nvPr/>
          </p:nvSpPr>
          <p:spPr bwMode="auto">
            <a:xfrm>
              <a:off x="395536" y="2708920"/>
              <a:ext cx="8496944" cy="79208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CD323A-529A-255D-1329-415065FA2EE5}"/>
                </a:ext>
              </a:extLst>
            </p:cNvPr>
            <p:cNvSpPr/>
            <p:nvPr/>
          </p:nvSpPr>
          <p:spPr bwMode="auto">
            <a:xfrm>
              <a:off x="1979712" y="2708920"/>
              <a:ext cx="3600400" cy="792088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C4072F-35A4-32DD-FFC6-897BC8C15172}"/>
                </a:ext>
              </a:extLst>
            </p:cNvPr>
            <p:cNvSpPr txBox="1"/>
            <p:nvPr/>
          </p:nvSpPr>
          <p:spPr>
            <a:xfrm>
              <a:off x="1907704" y="3933056"/>
              <a:ext cx="3417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en-C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57DC91-3624-DD74-885E-107AF461CBFB}"/>
                </a:ext>
              </a:extLst>
            </p:cNvPr>
            <p:cNvSpPr txBox="1"/>
            <p:nvPr/>
          </p:nvSpPr>
          <p:spPr>
            <a:xfrm>
              <a:off x="5310336" y="3933056"/>
              <a:ext cx="3417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lang="en-CN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156AD3-2C07-A422-8327-3CE5C35119F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78596" y="3573016"/>
              <a:ext cx="0" cy="36004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3CC4A2D-8A3C-8BE5-8AB7-A3710A9E968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481228" y="3573016"/>
              <a:ext cx="0" cy="36004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4" name="AutoShape 3">
            <a:extLst>
              <a:ext uri="{FF2B5EF4-FFF2-40B4-BE49-F238E27FC236}">
                <a16:creationId xmlns:a16="http://schemas.microsoft.com/office/drawing/2014/main" id="{674423DE-6AB7-D93D-0FF3-F250CB7B3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972207"/>
            <a:ext cx="7772400" cy="2553137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</a:rPr>
              <a:t>ElementType</a:t>
            </a:r>
            <a:r>
              <a:rPr lang="en-US" altLang="zh-CN" sz="2000" dirty="0">
                <a:latin typeface="Arial" panose="020B0604020202020204" pitchFamily="34" charset="0"/>
              </a:rPr>
              <a:t>  Query ( </a:t>
            </a:r>
            <a:r>
              <a:rPr lang="en-US" altLang="zh-CN" sz="2000" dirty="0" err="1">
                <a:latin typeface="Arial" panose="020B0604020202020204" pitchFamily="34" charset="0"/>
              </a:rPr>
              <a:t>ElementType</a:t>
            </a:r>
            <a:r>
              <a:rPr lang="en-US" altLang="zh-CN" sz="2000" dirty="0">
                <a:latin typeface="Arial" panose="020B0604020202020204" pitchFamily="34" charset="0"/>
              </a:rPr>
              <a:t> A[ ],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L,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R 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{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000" dirty="0" err="1">
                <a:latin typeface="Arial" panose="020B0604020202020204" pitchFamily="34" charset="0"/>
              </a:rPr>
              <a:t>ElementType</a:t>
            </a:r>
            <a:r>
              <a:rPr lang="en-US" altLang="zh-CN" sz="2000" dirty="0">
                <a:latin typeface="Arial" panose="020B0604020202020204" pitchFamily="34" charset="0"/>
              </a:rPr>
              <a:t> sum = 0;</a:t>
            </a:r>
            <a:endParaRPr lang="en-US" altLang="zh-CN" sz="2000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2000" dirty="0">
                <a:latin typeface="Arial" panose="020B0604020202020204" pitchFamily="34" charset="0"/>
              </a:rPr>
              <a:t>  (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= L; 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&lt;= R; ++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  sum += A[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2000" dirty="0">
                <a:latin typeface="Arial" panose="020B0604020202020204" pitchFamily="34" charset="0"/>
              </a:rPr>
              <a:t> sum;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}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85784-05BA-7BEE-597C-6E0DFD69EC2E}"/>
              </a:ext>
            </a:extLst>
          </p:cNvPr>
          <p:cNvSpPr txBox="1"/>
          <p:nvPr/>
        </p:nvSpPr>
        <p:spPr>
          <a:xfrm>
            <a:off x="3923928" y="5423301"/>
            <a:ext cx="367436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spcBef>
                <a:spcPts val="600"/>
              </a:spcBef>
            </a:pPr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</a:t>
            </a:r>
          </a:p>
          <a:p>
            <a:pPr algn="r" eaLnBrk="1" hangingPunct="1">
              <a:spcBef>
                <a:spcPts val="600"/>
              </a:spcBef>
            </a:pPr>
            <a:r>
              <a:rPr lang="en-US" altLang="zh-CN" b="0" dirty="0">
                <a:sym typeface="Wingdings" pitchFamily="2" charset="2"/>
              </a:rPr>
              <a:t>👎</a:t>
            </a:r>
            <a:r>
              <a:rPr lang="en-US" altLang="zh-CN" dirty="0">
                <a:sym typeface="Wingdings" pitchFamily="2" charset="2"/>
              </a:rPr>
              <a:t> as a frequent operation</a:t>
            </a:r>
          </a:p>
        </p:txBody>
      </p:sp>
    </p:spTree>
    <p:extLst>
      <p:ext uri="{BB962C8B-B14F-4D97-AF65-F5344CB8AC3E}">
        <p14:creationId xmlns:p14="http://schemas.microsoft.com/office/powerpoint/2010/main" val="199347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7" grpId="0"/>
      <p:bldP spid="24" grpId="0" animBg="1" autoUpdateAnimBg="0"/>
      <p:bldP spid="24" grpId="1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structure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939DEA3-CE50-D2DA-EA9D-358288A6363A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BB4AE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01410A1-4EDB-BA1E-EBC7-D8F34FD8A10D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32BE0F-61C7-1BDE-4334-32620BB22750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B88F211-C22E-0CBF-0223-DA97FD6D74A6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D1D5B33-99D3-802F-70CB-317A9725697D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26BF25-78F7-CDB5-2CAA-23DBABB37348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24EFEB-2C6C-D8D3-137D-2C0CDE556F9B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A5E4DA-A6AB-78FB-1970-8D5691B4AB8D}"/>
              </a:ext>
            </a:extLst>
          </p:cNvPr>
          <p:cNvGrpSpPr/>
          <p:nvPr/>
        </p:nvGrpSpPr>
        <p:grpSpPr>
          <a:xfrm>
            <a:off x="392696" y="5517232"/>
            <a:ext cx="3024336" cy="288032"/>
            <a:chOff x="392696" y="4437112"/>
            <a:chExt cx="3024336" cy="288032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E670A6C-2B5C-272C-904E-60BE75A2EADE}"/>
                </a:ext>
              </a:extLst>
            </p:cNvPr>
            <p:cNvSpPr/>
            <p:nvPr/>
          </p:nvSpPr>
          <p:spPr bwMode="auto">
            <a:xfrm>
              <a:off x="392696" y="4437112"/>
              <a:ext cx="1512168" cy="288032"/>
            </a:xfrm>
            <a:prstGeom prst="rect">
              <a:avLst/>
            </a:prstGeom>
            <a:solidFill>
              <a:srgbClr val="FDDAE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D566415-DEA5-9045-3A5D-1843BE83528A}"/>
                </a:ext>
              </a:extLst>
            </p:cNvPr>
            <p:cNvSpPr/>
            <p:nvPr/>
          </p:nvSpPr>
          <p:spPr bwMode="auto">
            <a:xfrm>
              <a:off x="1904864" y="4437112"/>
              <a:ext cx="1512168" cy="288032"/>
            </a:xfrm>
            <a:prstGeom prst="rect">
              <a:avLst/>
            </a:prstGeom>
            <a:solidFill>
              <a:srgbClr val="F2F2F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ACAF0022-D98A-C705-FFBC-DCAF9097463B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B3CDE3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653F84-E24F-2431-B8B6-A0EDB7C8C888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CCEBC5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A7C5C9B-9E2D-6962-27C1-709C278BD9D7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9B40F4-35B6-ABB2-BC60-1AC9C5936728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E1228D8-4E0D-EDD3-9337-74E68E2769E2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BB4AE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447A2FD-5662-0F01-02DA-469818FEB6D3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DECBE4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8B6D779-F1E5-DE4C-5109-022261AECDC7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ED9A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9328A1A-4B9C-1DC1-EEA7-5DE31834B65E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1ECB9A34-788B-874F-262F-9322FB6CEE13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2CFA676E-C3C2-2C95-409F-36D4555EF652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95F10C04-00BC-3FDD-07B4-0A9EE13E4D59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E5D8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6CBFEA8C-EB70-B765-A16D-3B9A4BE1B243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414E95AD-A728-E9B6-D6F0-A9F61662AC43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148355-1762-CA83-58AB-E5C28EB0E62C}"/>
              </a:ext>
            </a:extLst>
          </p:cNvPr>
          <p:cNvGrpSpPr/>
          <p:nvPr/>
        </p:nvGrpSpPr>
        <p:grpSpPr>
          <a:xfrm>
            <a:off x="392696" y="2972949"/>
            <a:ext cx="7563680" cy="288032"/>
            <a:chOff x="392696" y="2629203"/>
            <a:chExt cx="7563680" cy="2880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579ADC-740A-C2FD-12AC-F5C4CBAAE78A}"/>
                </a:ext>
              </a:extLst>
            </p:cNvPr>
            <p:cNvSpPr/>
            <p:nvPr/>
          </p:nvSpPr>
          <p:spPr bwMode="auto">
            <a:xfrm>
              <a:off x="392696" y="2629203"/>
              <a:ext cx="4539344" cy="288032"/>
            </a:xfrm>
            <a:prstGeom prst="rect">
              <a:avLst/>
            </a:prstGeom>
            <a:solidFill>
              <a:srgbClr val="B3CDE3">
                <a:alpha val="80000"/>
              </a:srgb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51C8C22-EC4F-5C78-AD5D-34CFEC3595E8}"/>
                </a:ext>
              </a:extLst>
            </p:cNvPr>
            <p:cNvSpPr/>
            <p:nvPr/>
          </p:nvSpPr>
          <p:spPr bwMode="auto">
            <a:xfrm>
              <a:off x="4932040" y="2629203"/>
              <a:ext cx="3024336" cy="288032"/>
            </a:xfrm>
            <a:prstGeom prst="rect">
              <a:avLst/>
            </a:prstGeom>
            <a:solidFill>
              <a:srgbClr val="CCEBC5">
                <a:alpha val="80000"/>
              </a:srgb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154" name="Oval 4153">
            <a:extLst>
              <a:ext uri="{FF2B5EF4-FFF2-40B4-BE49-F238E27FC236}">
                <a16:creationId xmlns:a16="http://schemas.microsoft.com/office/drawing/2014/main" id="{9417EEB4-E209-C1C3-4438-0B7305372285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DDAE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3EFA6D43-6F67-C696-4DF4-DC5A77C201B9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2F2F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DDF0FE3E-96AA-9B45-DD71-1722DD89B782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8696A449-25D0-31E1-5B16-B2201B0BF8FD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6A1492A-E1A0-A58A-D683-82E1B926110C}"/>
              </a:ext>
            </a:extLst>
          </p:cNvPr>
          <p:cNvGrpSpPr/>
          <p:nvPr/>
        </p:nvGrpSpPr>
        <p:grpSpPr>
          <a:xfrm>
            <a:off x="395536" y="4245090"/>
            <a:ext cx="7560840" cy="288032"/>
            <a:chOff x="395536" y="3383760"/>
            <a:chExt cx="7560840" cy="2880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6FF811-16AC-E88D-82EB-E0778EC796FD}"/>
                </a:ext>
              </a:extLst>
            </p:cNvPr>
            <p:cNvSpPr/>
            <p:nvPr/>
          </p:nvSpPr>
          <p:spPr bwMode="auto">
            <a:xfrm>
              <a:off x="395536" y="3383760"/>
              <a:ext cx="3024336" cy="288032"/>
            </a:xfrm>
            <a:prstGeom prst="rect">
              <a:avLst/>
            </a:prstGeom>
            <a:solidFill>
              <a:srgbClr val="DECBE4">
                <a:alpha val="80000"/>
              </a:srgb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E48668-FA91-A018-AD1E-F44E640CC845}"/>
                </a:ext>
              </a:extLst>
            </p:cNvPr>
            <p:cNvSpPr/>
            <p:nvPr/>
          </p:nvSpPr>
          <p:spPr bwMode="auto">
            <a:xfrm>
              <a:off x="4932040" y="3383760"/>
              <a:ext cx="1512168" cy="288032"/>
            </a:xfrm>
            <a:prstGeom prst="rect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484499-4B8B-F20C-C4B3-0FCF504EB7E8}"/>
                </a:ext>
              </a:extLst>
            </p:cNvPr>
            <p:cNvSpPr/>
            <p:nvPr/>
          </p:nvSpPr>
          <p:spPr bwMode="auto">
            <a:xfrm>
              <a:off x="3419872" y="3383760"/>
              <a:ext cx="1512168" cy="288032"/>
            </a:xfrm>
            <a:prstGeom prst="rect">
              <a:avLst/>
            </a:prstGeom>
            <a:solidFill>
              <a:srgbClr val="FED9A6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0D7671-0FD0-D55C-EFA3-32F58151CDED}"/>
                </a:ext>
              </a:extLst>
            </p:cNvPr>
            <p:cNvSpPr/>
            <p:nvPr/>
          </p:nvSpPr>
          <p:spPr bwMode="auto">
            <a:xfrm>
              <a:off x="6444208" y="3383760"/>
              <a:ext cx="1512168" cy="288032"/>
            </a:xfrm>
            <a:prstGeom prst="rect">
              <a:avLst/>
            </a:prstGeom>
            <a:solidFill>
              <a:srgbClr val="E5D8BD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83973" name="TextBox 83972">
            <a:extLst>
              <a:ext uri="{FF2B5EF4-FFF2-40B4-BE49-F238E27FC236}">
                <a16:creationId xmlns:a16="http://schemas.microsoft.com/office/drawing/2014/main" id="{CDAAF4EF-8C07-31EF-AA47-67F4831E4BE7}"/>
              </a:ext>
            </a:extLst>
          </p:cNvPr>
          <p:cNvSpPr txBox="1"/>
          <p:nvPr/>
        </p:nvSpPr>
        <p:spPr>
          <a:xfrm>
            <a:off x="7842010" y="5402613"/>
            <a:ext cx="954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int</a:t>
            </a: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 A[5];</a:t>
            </a:r>
          </a:p>
        </p:txBody>
      </p:sp>
      <p:cxnSp>
        <p:nvCxnSpPr>
          <p:cNvPr id="83975" name="Straight Arrow Connector 83974">
            <a:extLst>
              <a:ext uri="{FF2B5EF4-FFF2-40B4-BE49-F238E27FC236}">
                <a16:creationId xmlns:a16="http://schemas.microsoft.com/office/drawing/2014/main" id="{B2567438-3754-E552-33A6-85F3123D7C0A}"/>
              </a:ext>
            </a:extLst>
          </p:cNvPr>
          <p:cNvCxnSpPr>
            <a:cxnSpLocks/>
          </p:cNvCxnSpPr>
          <p:nvPr/>
        </p:nvCxnSpPr>
        <p:spPr bwMode="auto">
          <a:xfrm flipH="1">
            <a:off x="7812360" y="5741167"/>
            <a:ext cx="288032" cy="35212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4EF097F5-2004-78A5-8231-589DD4E5545E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13356C8D-4955-D268-2A2F-5E3A4E3077E9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13ABA05A-F5D2-85B4-F6DB-7B22A00BD1B2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F16196BF-A17E-5885-9E20-F4501FA8A857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/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8C48240E-304D-A0B7-2196-B87AFA481031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sp>
        <p:nvSpPr>
          <p:cNvPr id="83992" name="Freeform 83991">
            <a:extLst>
              <a:ext uri="{FF2B5EF4-FFF2-40B4-BE49-F238E27FC236}">
                <a16:creationId xmlns:a16="http://schemas.microsoft.com/office/drawing/2014/main" id="{5F9534A4-1C25-DC0D-2C45-28987FC53AA9}"/>
              </a:ext>
            </a:extLst>
          </p:cNvPr>
          <p:cNvSpPr/>
          <p:nvPr/>
        </p:nvSpPr>
        <p:spPr bwMode="auto">
          <a:xfrm>
            <a:off x="0" y="0"/>
            <a:ext cx="9252520" cy="6858000"/>
          </a:xfrm>
          <a:custGeom>
            <a:avLst/>
            <a:gdLst>
              <a:gd name="connsiteX0" fmla="*/ 199391 w 9180512"/>
              <a:gd name="connsiteY0" fmla="*/ 5977376 h 6858000"/>
              <a:gd name="connsiteX1" fmla="*/ 199391 w 9180512"/>
              <a:gd name="connsiteY1" fmla="*/ 6822337 h 6858000"/>
              <a:gd name="connsiteX2" fmla="*/ 5034091 w 9180512"/>
              <a:gd name="connsiteY2" fmla="*/ 6822337 h 6858000"/>
              <a:gd name="connsiteX3" fmla="*/ 5034091 w 9180512"/>
              <a:gd name="connsiteY3" fmla="*/ 5977376 h 6858000"/>
              <a:gd name="connsiteX4" fmla="*/ 199391 w 9180512"/>
              <a:gd name="connsiteY4" fmla="*/ 2214654 h 6858000"/>
              <a:gd name="connsiteX5" fmla="*/ 199391 w 9180512"/>
              <a:gd name="connsiteY5" fmla="*/ 3393224 h 6858000"/>
              <a:gd name="connsiteX6" fmla="*/ 5034091 w 9180512"/>
              <a:gd name="connsiteY6" fmla="*/ 3393224 h 6858000"/>
              <a:gd name="connsiteX7" fmla="*/ 5034091 w 9180512"/>
              <a:gd name="connsiteY7" fmla="*/ 2214654 h 6858000"/>
              <a:gd name="connsiteX8" fmla="*/ 0 w 9180512"/>
              <a:gd name="connsiteY8" fmla="*/ 0 h 6858000"/>
              <a:gd name="connsiteX9" fmla="*/ 9180512 w 9180512"/>
              <a:gd name="connsiteY9" fmla="*/ 0 h 6858000"/>
              <a:gd name="connsiteX10" fmla="*/ 9180512 w 9180512"/>
              <a:gd name="connsiteY10" fmla="*/ 6858000 h 6858000"/>
              <a:gd name="connsiteX11" fmla="*/ 0 w 918051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80512" h="6858000">
                <a:moveTo>
                  <a:pt x="199391" y="5977376"/>
                </a:moveTo>
                <a:lnTo>
                  <a:pt x="199391" y="6822337"/>
                </a:lnTo>
                <a:lnTo>
                  <a:pt x="5034091" y="6822337"/>
                </a:lnTo>
                <a:lnTo>
                  <a:pt x="5034091" y="5977376"/>
                </a:lnTo>
                <a:close/>
                <a:moveTo>
                  <a:pt x="199391" y="2214654"/>
                </a:moveTo>
                <a:lnTo>
                  <a:pt x="199391" y="3393224"/>
                </a:lnTo>
                <a:lnTo>
                  <a:pt x="5034091" y="3393224"/>
                </a:lnTo>
                <a:lnTo>
                  <a:pt x="5034091" y="2214654"/>
                </a:lnTo>
                <a:close/>
                <a:moveTo>
                  <a:pt x="0" y="0"/>
                </a:moveTo>
                <a:lnTo>
                  <a:pt x="9180512" y="0"/>
                </a:lnTo>
                <a:lnTo>
                  <a:pt x="918051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F7F7F">
              <a:alpha val="8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84007" name="Elbow Connector 84006">
            <a:extLst>
              <a:ext uri="{FF2B5EF4-FFF2-40B4-BE49-F238E27FC236}">
                <a16:creationId xmlns:a16="http://schemas.microsoft.com/office/drawing/2014/main" id="{37358611-F998-B670-6865-A925DF92E78D}"/>
              </a:ext>
            </a:extLst>
          </p:cNvPr>
          <p:cNvCxnSpPr>
            <a:stCxn id="32" idx="1"/>
            <a:endCxn id="8" idx="1"/>
          </p:cNvCxnSpPr>
          <p:nvPr/>
        </p:nvCxnSpPr>
        <p:spPr bwMode="auto">
          <a:xfrm rot="10800000" flipH="1" flipV="1">
            <a:off x="392695" y="3116964"/>
            <a:ext cx="7911" cy="3372375"/>
          </a:xfrm>
          <a:prstGeom prst="bentConnector3">
            <a:avLst>
              <a:gd name="adj1" fmla="val -1130729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84014" name="Elbow Connector 84013">
            <a:extLst>
              <a:ext uri="{FF2B5EF4-FFF2-40B4-BE49-F238E27FC236}">
                <a16:creationId xmlns:a16="http://schemas.microsoft.com/office/drawing/2014/main" id="{82EA4C6D-1535-80EB-9DC0-524B43CBECA5}"/>
              </a:ext>
            </a:extLst>
          </p:cNvPr>
          <p:cNvCxnSpPr>
            <a:stCxn id="33" idx="1"/>
            <a:endCxn id="31" idx="1"/>
          </p:cNvCxnSpPr>
          <p:nvPr/>
        </p:nvCxnSpPr>
        <p:spPr bwMode="auto">
          <a:xfrm rot="10800000" flipH="1" flipV="1">
            <a:off x="4932039" y="3116964"/>
            <a:ext cx="5071" cy="3372375"/>
          </a:xfrm>
          <a:prstGeom prst="bentConnector3">
            <a:avLst>
              <a:gd name="adj1" fmla="val 1567955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83992" grpId="0" animBg="1"/>
      <p:bldP spid="8399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how to build?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BB4AE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DDAE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2F2F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B3CDE3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CCEBC5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BB4AE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DECBE4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ED9A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E5D8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B3CDE3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CCEBC5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DDAE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2F2F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DECBE4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FED9A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E5D8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3" name="TextBox 83972">
            <a:extLst>
              <a:ext uri="{FF2B5EF4-FFF2-40B4-BE49-F238E27FC236}">
                <a16:creationId xmlns:a16="http://schemas.microsoft.com/office/drawing/2014/main" id="{3C110EB4-0E7E-0DD4-FA7A-C46BE08798A1}"/>
              </a:ext>
            </a:extLst>
          </p:cNvPr>
          <p:cNvSpPr txBox="1"/>
          <p:nvPr/>
        </p:nvSpPr>
        <p:spPr>
          <a:xfrm>
            <a:off x="7842010" y="5402613"/>
            <a:ext cx="954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int</a:t>
            </a: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 A[5];</a:t>
            </a:r>
          </a:p>
        </p:txBody>
      </p:sp>
      <p:cxnSp>
        <p:nvCxnSpPr>
          <p:cNvPr id="83975" name="Straight Arrow Connector 83974">
            <a:extLst>
              <a:ext uri="{FF2B5EF4-FFF2-40B4-BE49-F238E27FC236}">
                <a16:creationId xmlns:a16="http://schemas.microsoft.com/office/drawing/2014/main" id="{4770767A-9A46-37F4-29CD-3881F5CCCE1B}"/>
              </a:ext>
            </a:extLst>
          </p:cNvPr>
          <p:cNvCxnSpPr>
            <a:cxnSpLocks/>
          </p:cNvCxnSpPr>
          <p:nvPr/>
        </p:nvCxnSpPr>
        <p:spPr bwMode="auto">
          <a:xfrm flipH="1">
            <a:off x="7812360" y="5741167"/>
            <a:ext cx="288032" cy="35212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/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98D55C-90C7-0BCF-57E3-E17163C4363D}"/>
              </a:ext>
            </a:extLst>
          </p:cNvPr>
          <p:cNvCxnSpPr>
            <a:cxnSpLocks/>
          </p:cNvCxnSpPr>
          <p:nvPr/>
        </p:nvCxnSpPr>
        <p:spPr bwMode="auto">
          <a:xfrm flipH="1">
            <a:off x="4754579" y="1512697"/>
            <a:ext cx="753626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B84F7E-7296-210F-2DE4-FAE97ECBD3B6}"/>
              </a:ext>
            </a:extLst>
          </p:cNvPr>
          <p:cNvSpPr txBox="1"/>
          <p:nvPr/>
        </p:nvSpPr>
        <p:spPr>
          <a:xfrm>
            <a:off x="5497582" y="1339143"/>
            <a:ext cx="286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stored, but c</a:t>
            </a:r>
            <a:r>
              <a:rPr lang="en-CN" sz="1400" dirty="0"/>
              <a:t>omputed </a:t>
            </a:r>
            <a:r>
              <a:rPr lang="en-CN" sz="1400" i="1" dirty="0"/>
              <a:t>on the fly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F5418-C7F5-1496-230B-255D059CF0B4}"/>
              </a:ext>
            </a:extLst>
          </p:cNvPr>
          <p:cNvSpPr txBox="1"/>
          <p:nvPr/>
        </p:nvSpPr>
        <p:spPr>
          <a:xfrm>
            <a:off x="5493652" y="1086681"/>
            <a:ext cx="1114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stored </a:t>
            </a:r>
            <a:r>
              <a:rPr lang="en-US" sz="1400" i="1" dirty="0"/>
              <a:t>value</a:t>
            </a:r>
            <a:endParaRPr lang="en-CN" sz="1400" i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394552-3BF7-0579-7F06-64B87B2B1DC8}"/>
              </a:ext>
            </a:extLst>
          </p:cNvPr>
          <p:cNvCxnSpPr>
            <a:cxnSpLocks/>
          </p:cNvCxnSpPr>
          <p:nvPr/>
        </p:nvCxnSpPr>
        <p:spPr bwMode="auto">
          <a:xfrm flipH="1">
            <a:off x="4754579" y="1268760"/>
            <a:ext cx="753626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4B73B2-4170-C75F-305E-36DBB68D92B0}"/>
              </a:ext>
            </a:extLst>
          </p:cNvPr>
          <p:cNvSpPr txBox="1"/>
          <p:nvPr/>
        </p:nvSpPr>
        <p:spPr>
          <a:xfrm>
            <a:off x="3573778" y="4833584"/>
            <a:ext cx="35575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A </a:t>
            </a:r>
            <a:r>
              <a:rPr lang="en-CN" sz="2000" i="1" dirty="0"/>
              <a:t>full binary tree</a:t>
            </a:r>
            <a:r>
              <a:rPr lang="en-CN" sz="2000" dirty="0"/>
              <a:t> that can be</a:t>
            </a:r>
          </a:p>
          <a:p>
            <a:r>
              <a:rPr lang="en-CN" sz="2000" dirty="0"/>
              <a:t>stored in an array: </a:t>
            </a:r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tree[10];</a:t>
            </a:r>
            <a:endParaRPr lang="en-CN" sz="2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2FB83-4A4D-CE41-274C-DEB49D85F2B2}"/>
              </a:ext>
            </a:extLst>
          </p:cNvPr>
          <p:cNvSpPr txBox="1"/>
          <p:nvPr/>
        </p:nvSpPr>
        <p:spPr>
          <a:xfrm>
            <a:off x="3654788" y="113186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072E7-9976-692C-0125-590B8E7321EF}"/>
              </a:ext>
            </a:extLst>
          </p:cNvPr>
          <p:cNvSpPr txBox="1"/>
          <p:nvPr/>
        </p:nvSpPr>
        <p:spPr>
          <a:xfrm>
            <a:off x="2112065" y="241301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4EBD5-0ACC-F9A5-7C02-BD314F2D7A1E}"/>
              </a:ext>
            </a:extLst>
          </p:cNvPr>
          <p:cNvSpPr txBox="1"/>
          <p:nvPr/>
        </p:nvSpPr>
        <p:spPr>
          <a:xfrm>
            <a:off x="5533000" y="24095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0F734-94E6-1C3D-E1EE-32873FFD0EB6}"/>
              </a:ext>
            </a:extLst>
          </p:cNvPr>
          <p:cNvSpPr txBox="1"/>
          <p:nvPr/>
        </p:nvSpPr>
        <p:spPr>
          <a:xfrm>
            <a:off x="1078030" y="36805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C982E-8035-9FC1-8C51-A8587ECADF1B}"/>
              </a:ext>
            </a:extLst>
          </p:cNvPr>
          <p:cNvSpPr txBox="1"/>
          <p:nvPr/>
        </p:nvSpPr>
        <p:spPr>
          <a:xfrm>
            <a:off x="3316820" y="36805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6BE486-6E17-A6DC-EEFD-3187910E7562}"/>
              </a:ext>
            </a:extLst>
          </p:cNvPr>
          <p:cNvSpPr txBox="1"/>
          <p:nvPr/>
        </p:nvSpPr>
        <p:spPr>
          <a:xfrm>
            <a:off x="4932040" y="36805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[6]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22A626-5AA0-BA66-E611-2BFDD0007746}"/>
              </a:ext>
            </a:extLst>
          </p:cNvPr>
          <p:cNvSpPr txBox="1"/>
          <p:nvPr/>
        </p:nvSpPr>
        <p:spPr>
          <a:xfrm>
            <a:off x="6409462" y="367669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[7]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D77406-7A6F-E4D0-0428-80E1F78CCCDE}"/>
              </a:ext>
            </a:extLst>
          </p:cNvPr>
          <p:cNvSpPr txBox="1"/>
          <p:nvPr/>
        </p:nvSpPr>
        <p:spPr>
          <a:xfrm>
            <a:off x="339654" y="496201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[8]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A20B94-BE7D-6ADB-5BD6-988E43B3559E}"/>
              </a:ext>
            </a:extLst>
          </p:cNvPr>
          <p:cNvSpPr txBox="1"/>
          <p:nvPr/>
        </p:nvSpPr>
        <p:spPr>
          <a:xfrm>
            <a:off x="1814236" y="496047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[9]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FA29AD-621C-5E01-5FD6-8E52C2031861}"/>
              </a:ext>
            </a:extLst>
          </p:cNvPr>
          <p:cNvSpPr txBox="1"/>
          <p:nvPr/>
        </p:nvSpPr>
        <p:spPr>
          <a:xfrm>
            <a:off x="3674770" y="5611099"/>
            <a:ext cx="39184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ts val="600"/>
              </a:spcBef>
            </a:pPr>
            <a:r>
              <a:rPr lang="en-US" altLang="zh-CN" i="1" dirty="0">
                <a:sym typeface="Wingdings" pitchFamily="2" charset="2"/>
              </a:rPr>
              <a:t>S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4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is safe </a:t>
            </a:r>
          </a:p>
        </p:txBody>
      </p:sp>
    </p:spTree>
    <p:extLst>
      <p:ext uri="{BB962C8B-B14F-4D97-AF65-F5344CB8AC3E}">
        <p14:creationId xmlns:p14="http://schemas.microsoft.com/office/powerpoint/2010/main" val="416218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27" grpId="0" animBg="1"/>
      <p:bldP spid="39" grpId="0" animBg="1"/>
      <p:bldP spid="40" grpId="0" animBg="1"/>
      <p:bldP spid="42" grpId="0" animBg="1"/>
      <p:bldP spid="46" grpId="0" animBg="1"/>
      <p:bldP spid="41" grpId="0" animBg="1"/>
      <p:bldP spid="59" grpId="0" animBg="1"/>
      <p:bldP spid="60" grpId="0" animBg="1"/>
      <p:bldP spid="4102" grpId="0" animBg="1"/>
      <p:bldP spid="4103" grpId="0" animBg="1"/>
      <p:bldP spid="32" grpId="0" animBg="1"/>
      <p:bldP spid="33" grpId="0" animBg="1"/>
      <p:bldP spid="4154" grpId="0" animBg="1"/>
      <p:bldP spid="4155" grpId="0" animBg="1"/>
      <p:bldP spid="35" grpId="0" animBg="1"/>
      <p:bldP spid="36" grpId="0" animBg="1"/>
      <p:bldP spid="37" grpId="0" animBg="1"/>
      <p:bldP spid="38" grpId="0" animBg="1"/>
      <p:bldP spid="5" grpId="0"/>
      <p:bldP spid="6" grpId="0"/>
      <p:bldP spid="9" grpId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how to build?</a:t>
            </a:r>
            <a:endParaRPr lang="en-US" altLang="zh-CN" sz="2400" i="1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92AC1A09-33CE-727E-A695-436E5B661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9"/>
            <a:ext cx="7772400" cy="5544616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accent6"/>
                </a:solidFill>
                <a:latin typeface="Arial" panose="020B0604020202020204" pitchFamily="34" charset="0"/>
              </a:rPr>
              <a:t>Build </a:t>
            </a:r>
            <a:r>
              <a:rPr lang="en-US" altLang="zh-CN" sz="2000" dirty="0">
                <a:latin typeface="Arial" panose="020B0604020202020204" pitchFamily="34" charset="0"/>
              </a:rPr>
              <a:t>(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node,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start,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end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// Base Case: Leaf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000" dirty="0">
                <a:latin typeface="Arial" panose="020B0604020202020204" pitchFamily="34" charset="0"/>
              </a:rPr>
              <a:t> ( start == end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tree[ node ] = A[ start 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// Recursive Step: Split and Build Children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mid = ( start + end ) /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accent6"/>
                </a:solidFill>
                <a:latin typeface="Arial" panose="020B0604020202020204" pitchFamily="34" charset="0"/>
              </a:rPr>
              <a:t>Build</a:t>
            </a:r>
            <a:r>
              <a:rPr lang="en-US" altLang="zh-CN" sz="2000" dirty="0">
                <a:latin typeface="Arial" panose="020B0604020202020204" pitchFamily="34" charset="0"/>
              </a:rPr>
              <a:t> (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node, start, mid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accent6"/>
                </a:solidFill>
                <a:latin typeface="Arial" panose="020B0604020202020204" pitchFamily="34" charset="0"/>
              </a:rPr>
              <a:t>Build</a:t>
            </a:r>
            <a:r>
              <a:rPr lang="en-US" altLang="zh-CN" sz="2000" dirty="0">
                <a:latin typeface="Arial" panose="020B0604020202020204" pitchFamily="34" charset="0"/>
              </a:rPr>
              <a:t> (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 +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</a:rPr>
              <a:t>, mid +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</a:rPr>
              <a:t>, end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// Merge Logic: Sum of children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tree[ node ] = tree[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 ] + tree[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 +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 </a:t>
            </a:r>
            <a:r>
              <a:rPr lang="en-US" altLang="zh-CN" sz="2000" dirty="0">
                <a:latin typeface="Arial" panose="020B0604020202020204" pitchFamily="34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C792F-1613-07D8-3924-357FD6C782C3}"/>
              </a:ext>
            </a:extLst>
          </p:cNvPr>
          <p:cNvSpPr txBox="1"/>
          <p:nvPr/>
        </p:nvSpPr>
        <p:spPr>
          <a:xfrm>
            <a:off x="5004048" y="2204864"/>
            <a:ext cx="2736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</a:p>
          <a:p>
            <a:pPr algn="r"/>
            <a:r>
              <a:rPr lang="en-US" dirty="0">
                <a:sym typeface="Wingdings" pitchFamily="2" charset="2"/>
              </a:rPr>
              <a:t>but run only once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8950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4" grpId="0" animBg="1" autoUpdateAnimBg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query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rgbClr val="7F7F7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00B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0070C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00B05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0070C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00024-1610-EC82-2519-FC062D0498B1}"/>
              </a:ext>
            </a:extLst>
          </p:cNvPr>
          <p:cNvSpPr txBox="1"/>
          <p:nvPr/>
        </p:nvSpPr>
        <p:spPr>
          <a:xfrm>
            <a:off x="3424943" y="5013176"/>
            <a:ext cx="48943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[  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4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CN" sz="4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73458C-3B3B-0851-3D45-6CB8FFAAA90F}"/>
              </a:ext>
            </a:extLst>
          </p:cNvPr>
          <p:cNvCxnSpPr>
            <a:cxnSpLocks/>
          </p:cNvCxnSpPr>
          <p:nvPr/>
        </p:nvCxnSpPr>
        <p:spPr bwMode="auto">
          <a:xfrm>
            <a:off x="7164288" y="5767254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AACF6-E66F-5D2F-6BAB-F15E8DE3C407}"/>
              </a:ext>
            </a:extLst>
          </p:cNvPr>
          <p:cNvCxnSpPr>
            <a:cxnSpLocks/>
          </p:cNvCxnSpPr>
          <p:nvPr/>
        </p:nvCxnSpPr>
        <p:spPr bwMode="auto">
          <a:xfrm>
            <a:off x="4187890" y="5767254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6893EF-1920-CBEE-56C1-3597BD7702D6}"/>
              </a:ext>
            </a:extLst>
          </p:cNvPr>
          <p:cNvSpPr txBox="1"/>
          <p:nvPr/>
        </p:nvSpPr>
        <p:spPr>
          <a:xfrm>
            <a:off x="6670194" y="2143889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Overlap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31EF19-62CE-D472-4A42-622270D9F9B4}"/>
              </a:ext>
            </a:extLst>
          </p:cNvPr>
          <p:cNvSpPr txBox="1"/>
          <p:nvPr/>
        </p:nvSpPr>
        <p:spPr>
          <a:xfrm>
            <a:off x="4382447" y="3429000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Overlap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04669-B2D9-50D8-B250-DA32F8C1E239}"/>
              </a:ext>
            </a:extLst>
          </p:cNvPr>
          <p:cNvSpPr txBox="1"/>
          <p:nvPr/>
        </p:nvSpPr>
        <p:spPr>
          <a:xfrm>
            <a:off x="3203848" y="2143889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Overlap</a:t>
            </a:r>
            <a:endParaRPr lang="en-CN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03217-5D3B-737F-4BDD-97036C46C47A}"/>
              </a:ext>
            </a:extLst>
          </p:cNvPr>
          <p:cNvSpPr txBox="1"/>
          <p:nvPr/>
        </p:nvSpPr>
        <p:spPr>
          <a:xfrm>
            <a:off x="4849406" y="896285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Overlap</a:t>
            </a:r>
            <a:endParaRPr lang="en-CN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119384-4202-E91C-24B3-5A16E9E71312}"/>
              </a:ext>
            </a:extLst>
          </p:cNvPr>
          <p:cNvSpPr txBox="1"/>
          <p:nvPr/>
        </p:nvSpPr>
        <p:spPr>
          <a:xfrm>
            <a:off x="2123728" y="3429000"/>
            <a:ext cx="1036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Overlap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7AA08-7E63-CD1C-A07E-791F69B06823}"/>
              </a:ext>
            </a:extLst>
          </p:cNvPr>
          <p:cNvSpPr txBox="1"/>
          <p:nvPr/>
        </p:nvSpPr>
        <p:spPr>
          <a:xfrm>
            <a:off x="5958408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33EFA-A2FD-B431-D393-8975059EDABB}"/>
              </a:ext>
            </a:extLst>
          </p:cNvPr>
          <p:cNvSpPr txBox="1"/>
          <p:nvPr/>
        </p:nvSpPr>
        <p:spPr>
          <a:xfrm>
            <a:off x="7423411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01CCD-3FFB-F733-ACCE-C298D1E34E0D}"/>
              </a:ext>
            </a:extLst>
          </p:cNvPr>
          <p:cNvSpPr txBox="1"/>
          <p:nvPr/>
        </p:nvSpPr>
        <p:spPr>
          <a:xfrm>
            <a:off x="1409453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15A80E-83AD-6566-AABB-90D5AB52DA1A}"/>
              </a:ext>
            </a:extLst>
          </p:cNvPr>
          <p:cNvSpPr txBox="1"/>
          <p:nvPr/>
        </p:nvSpPr>
        <p:spPr>
          <a:xfrm>
            <a:off x="2942084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1697525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query</a:t>
            </a:r>
            <a:endParaRPr lang="en-US" altLang="zh-CN" sz="2400" i="1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92AC1A09-33CE-727E-A695-436E5B661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9"/>
            <a:ext cx="7772400" cy="5544616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6"/>
                </a:solidFill>
                <a:latin typeface="Arial" panose="020B0604020202020204" pitchFamily="34" charset="0"/>
              </a:rPr>
              <a:t>Query </a:t>
            </a:r>
            <a:r>
              <a:rPr lang="en-US" altLang="zh-CN" sz="1800" dirty="0">
                <a:latin typeface="Arial" panose="020B0604020202020204" pitchFamily="34" charset="0"/>
              </a:rPr>
              <a:t>(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node,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start,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end,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L,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R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latin typeface="Arial" panose="020B0604020202020204" pitchFamily="34" charset="0"/>
              </a:rPr>
              <a:t>// Case 1: No Overlap (Node is completely outside query range)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dirty="0">
                <a:latin typeface="Arial" panose="020B0604020202020204" pitchFamily="34" charset="0"/>
              </a:rPr>
              <a:t> ( R &lt; start || end &lt; L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en-US" altLang="zh-CN" sz="18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latin typeface="Arial" panose="020B0604020202020204" pitchFamily="34" charset="0"/>
              </a:rPr>
              <a:t>// Case 2: Total Overlap (Node is completely inside query range)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dirty="0">
                <a:latin typeface="Arial" panose="020B0604020202020204" pitchFamily="34" charset="0"/>
              </a:rPr>
              <a:t> ( L &lt;= start &amp;&amp; end &lt;= R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dirty="0">
                <a:latin typeface="Arial" panose="020B0604020202020204" pitchFamily="34" charset="0"/>
              </a:rPr>
              <a:t> tree[ node 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latin typeface="Arial" panose="020B0604020202020204" pitchFamily="34" charset="0"/>
              </a:rPr>
              <a:t>// Case 3: Partial Overlap (We need to go deeper into both children)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mid = ( start + end ) /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8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 err="1">
                <a:latin typeface="Arial" panose="020B0604020202020204" pitchFamily="34" charset="0"/>
              </a:rPr>
              <a:t>left_sum</a:t>
            </a:r>
            <a:r>
              <a:rPr lang="en-US" altLang="zh-CN" sz="1800" dirty="0">
                <a:latin typeface="Arial" panose="020B0604020202020204" pitchFamily="34" charset="0"/>
              </a:rPr>
              <a:t> = </a:t>
            </a:r>
            <a:r>
              <a:rPr lang="en-US" altLang="zh-CN" sz="1800" dirty="0">
                <a:solidFill>
                  <a:schemeClr val="accent6"/>
                </a:solidFill>
                <a:latin typeface="Arial" panose="020B0604020202020204" pitchFamily="34" charset="0"/>
              </a:rPr>
              <a:t>Query </a:t>
            </a:r>
            <a:r>
              <a:rPr lang="en-US" altLang="zh-CN" sz="1800" dirty="0">
                <a:latin typeface="Arial" panose="020B0604020202020204" pitchFamily="34" charset="0"/>
              </a:rPr>
              <a:t>(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800" dirty="0">
                <a:latin typeface="Arial" panose="020B0604020202020204" pitchFamily="34" charset="0"/>
              </a:rPr>
              <a:t> * node, start, mid, L, R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 err="1">
                <a:latin typeface="Arial" panose="020B0604020202020204" pitchFamily="34" charset="0"/>
              </a:rPr>
              <a:t>right_sum</a:t>
            </a:r>
            <a:r>
              <a:rPr lang="en-US" altLang="zh-CN" sz="1800" dirty="0">
                <a:latin typeface="Arial" panose="020B0604020202020204" pitchFamily="34" charset="0"/>
              </a:rPr>
              <a:t> = </a:t>
            </a:r>
            <a:r>
              <a:rPr lang="en-US" altLang="zh-CN" sz="1800" dirty="0">
                <a:solidFill>
                  <a:schemeClr val="accent6"/>
                </a:solidFill>
                <a:latin typeface="Arial" panose="020B0604020202020204" pitchFamily="34" charset="0"/>
              </a:rPr>
              <a:t>Query </a:t>
            </a:r>
            <a:r>
              <a:rPr lang="en-US" altLang="zh-CN" sz="1800" dirty="0">
                <a:latin typeface="Arial" panose="020B0604020202020204" pitchFamily="34" charset="0"/>
              </a:rPr>
              <a:t>(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800" dirty="0">
                <a:latin typeface="Arial" panose="020B0604020202020204" pitchFamily="34" charset="0"/>
              </a:rPr>
              <a:t> * node +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800" dirty="0">
                <a:latin typeface="Arial" panose="020B0604020202020204" pitchFamily="34" charset="0"/>
              </a:rPr>
              <a:t>, mid +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800" dirty="0">
                <a:latin typeface="Arial" panose="020B0604020202020204" pitchFamily="34" charset="0"/>
              </a:rPr>
              <a:t>, end, L, R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 err="1">
                <a:latin typeface="Arial" panose="020B0604020202020204" pitchFamily="34" charset="0"/>
              </a:rPr>
              <a:t>left_sum</a:t>
            </a:r>
            <a:r>
              <a:rPr lang="en-US" altLang="zh-CN" sz="1800" dirty="0">
                <a:latin typeface="Arial" panose="020B0604020202020204" pitchFamily="34" charset="0"/>
              </a:rPr>
              <a:t> + </a:t>
            </a:r>
            <a:r>
              <a:rPr lang="en-US" altLang="zh-CN" sz="1800" dirty="0" err="1">
                <a:latin typeface="Arial" panose="020B0604020202020204" pitchFamily="34" charset="0"/>
              </a:rPr>
              <a:t>right_sum</a:t>
            </a:r>
            <a:r>
              <a:rPr lang="en-US" altLang="zh-CN" sz="18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C792F-1613-07D8-3924-357FD6C782C3}"/>
              </a:ext>
            </a:extLst>
          </p:cNvPr>
          <p:cNvSpPr txBox="1"/>
          <p:nvPr/>
        </p:nvSpPr>
        <p:spPr>
          <a:xfrm>
            <a:off x="5148064" y="332655"/>
            <a:ext cx="3168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ym typeface="Wingdings" pitchFamily="2" charset="2"/>
              </a:rPr>
              <a:t>👍 </a:t>
            </a:r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log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35850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4" grpId="0" animBg="1" autoUpdateAnimBg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update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rgbClr val="7F7F7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0070C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00024-1610-EC82-2519-FC062D0498B1}"/>
              </a:ext>
            </a:extLst>
          </p:cNvPr>
          <p:cNvSpPr txBox="1"/>
          <p:nvPr/>
        </p:nvSpPr>
        <p:spPr>
          <a:xfrm>
            <a:off x="4714923" y="5072213"/>
            <a:ext cx="1964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CN" sz="4000" dirty="0">
              <a:solidFill>
                <a:srgbClr val="0070C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AACF6-E66F-5D2F-6BAB-F15E8DE3C407}"/>
              </a:ext>
            </a:extLst>
          </p:cNvPr>
          <p:cNvCxnSpPr>
            <a:cxnSpLocks/>
          </p:cNvCxnSpPr>
          <p:nvPr/>
        </p:nvCxnSpPr>
        <p:spPr bwMode="auto">
          <a:xfrm>
            <a:off x="5671762" y="5661248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6893EF-1920-CBEE-56C1-3597BD7702D6}"/>
              </a:ext>
            </a:extLst>
          </p:cNvPr>
          <p:cNvSpPr txBox="1"/>
          <p:nvPr/>
        </p:nvSpPr>
        <p:spPr>
          <a:xfrm>
            <a:off x="6670194" y="2143889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the range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03217-5D3B-737F-4BDD-97036C46C47A}"/>
              </a:ext>
            </a:extLst>
          </p:cNvPr>
          <p:cNvSpPr txBox="1"/>
          <p:nvPr/>
        </p:nvSpPr>
        <p:spPr>
          <a:xfrm>
            <a:off x="4849406" y="896285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range</a:t>
            </a:r>
            <a:endParaRPr lang="en-CN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7AA08-7E63-CD1C-A07E-791F69B06823}"/>
              </a:ext>
            </a:extLst>
          </p:cNvPr>
          <p:cNvSpPr txBox="1"/>
          <p:nvPr/>
        </p:nvSpPr>
        <p:spPr>
          <a:xfrm>
            <a:off x="5958408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</a:t>
            </a:r>
            <a:endParaRPr lang="en-CN" sz="1200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33EFA-A2FD-B431-D393-8975059EDABB}"/>
              </a:ext>
            </a:extLst>
          </p:cNvPr>
          <p:cNvSpPr txBox="1"/>
          <p:nvPr/>
        </p:nvSpPr>
        <p:spPr>
          <a:xfrm>
            <a:off x="7423411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01CCD-3FFB-F733-ACCE-C298D1E34E0D}"/>
              </a:ext>
            </a:extLst>
          </p:cNvPr>
          <p:cNvSpPr txBox="1"/>
          <p:nvPr/>
        </p:nvSpPr>
        <p:spPr>
          <a:xfrm>
            <a:off x="1409453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15A80E-83AD-6566-AABB-90D5AB52DA1A}"/>
              </a:ext>
            </a:extLst>
          </p:cNvPr>
          <p:cNvSpPr txBox="1"/>
          <p:nvPr/>
        </p:nvSpPr>
        <p:spPr>
          <a:xfrm>
            <a:off x="2942084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97583-F420-7D3D-4F81-8B795D761255}"/>
              </a:ext>
            </a:extLst>
          </p:cNvPr>
          <p:cNvSpPr txBox="1"/>
          <p:nvPr/>
        </p:nvSpPr>
        <p:spPr>
          <a:xfrm>
            <a:off x="2167581" y="3429884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991-778F-B397-42AC-E9E95D1E2931}"/>
              </a:ext>
            </a:extLst>
          </p:cNvPr>
          <p:cNvSpPr txBox="1"/>
          <p:nvPr/>
        </p:nvSpPr>
        <p:spPr>
          <a:xfrm>
            <a:off x="4377501" y="3427095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BF11-AA38-AF3B-8912-BBDA214300DC}"/>
              </a:ext>
            </a:extLst>
          </p:cNvPr>
          <p:cNvSpPr txBox="1"/>
          <p:nvPr/>
        </p:nvSpPr>
        <p:spPr>
          <a:xfrm>
            <a:off x="3321722" y="2177196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44529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update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</a:rPr>
              <a:t>26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Times New Roman" pitchFamily="18" charset="0"/>
                  <a:ea typeface="宋体" pitchFamily="2" charset="-122"/>
                </a:rPr>
                <a:t>9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</a:rPr>
              <a:t>12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rgbClr val="7F7F7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00024-1610-EC82-2519-FC062D0498B1}"/>
              </a:ext>
            </a:extLst>
          </p:cNvPr>
          <p:cNvSpPr txBox="1"/>
          <p:nvPr/>
        </p:nvSpPr>
        <p:spPr>
          <a:xfrm>
            <a:off x="4714923" y="5072213"/>
            <a:ext cx="1964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CN" sz="4000" dirty="0">
              <a:solidFill>
                <a:srgbClr val="0070C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AACF6-E66F-5D2F-6BAB-F15E8DE3C407}"/>
              </a:ext>
            </a:extLst>
          </p:cNvPr>
          <p:cNvCxnSpPr>
            <a:cxnSpLocks/>
          </p:cNvCxnSpPr>
          <p:nvPr/>
        </p:nvCxnSpPr>
        <p:spPr bwMode="auto">
          <a:xfrm>
            <a:off x="5671762" y="5661248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6893EF-1920-CBEE-56C1-3597BD7702D6}"/>
              </a:ext>
            </a:extLst>
          </p:cNvPr>
          <p:cNvSpPr txBox="1"/>
          <p:nvPr/>
        </p:nvSpPr>
        <p:spPr>
          <a:xfrm>
            <a:off x="6670194" y="2143889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</a:t>
            </a:r>
            <a:endParaRPr lang="en-CN" sz="1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03217-5D3B-737F-4BDD-97036C46C47A}"/>
              </a:ext>
            </a:extLst>
          </p:cNvPr>
          <p:cNvSpPr txBox="1"/>
          <p:nvPr/>
        </p:nvSpPr>
        <p:spPr>
          <a:xfrm>
            <a:off x="4849406" y="896285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pdated</a:t>
            </a:r>
            <a:endParaRPr lang="en-CN" sz="1200" dirty="0">
              <a:solidFill>
                <a:srgbClr val="0070C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7AA08-7E63-CD1C-A07E-791F69B06823}"/>
              </a:ext>
            </a:extLst>
          </p:cNvPr>
          <p:cNvSpPr txBox="1"/>
          <p:nvPr/>
        </p:nvSpPr>
        <p:spPr>
          <a:xfrm>
            <a:off x="5958408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</a:t>
            </a:r>
            <a:endParaRPr lang="en-CN" sz="1200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33EFA-A2FD-B431-D393-8975059EDABB}"/>
              </a:ext>
            </a:extLst>
          </p:cNvPr>
          <p:cNvSpPr txBox="1"/>
          <p:nvPr/>
        </p:nvSpPr>
        <p:spPr>
          <a:xfrm>
            <a:off x="7423411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01CCD-3FFB-F733-ACCE-C298D1E34E0D}"/>
              </a:ext>
            </a:extLst>
          </p:cNvPr>
          <p:cNvSpPr txBox="1"/>
          <p:nvPr/>
        </p:nvSpPr>
        <p:spPr>
          <a:xfrm>
            <a:off x="1409453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15A80E-83AD-6566-AABB-90D5AB52DA1A}"/>
              </a:ext>
            </a:extLst>
          </p:cNvPr>
          <p:cNvSpPr txBox="1"/>
          <p:nvPr/>
        </p:nvSpPr>
        <p:spPr>
          <a:xfrm>
            <a:off x="2942084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97583-F420-7D3D-4F81-8B795D761255}"/>
              </a:ext>
            </a:extLst>
          </p:cNvPr>
          <p:cNvSpPr txBox="1"/>
          <p:nvPr/>
        </p:nvSpPr>
        <p:spPr>
          <a:xfrm>
            <a:off x="2167581" y="3429884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991-778F-B397-42AC-E9E95D1E2931}"/>
              </a:ext>
            </a:extLst>
          </p:cNvPr>
          <p:cNvSpPr txBox="1"/>
          <p:nvPr/>
        </p:nvSpPr>
        <p:spPr>
          <a:xfrm>
            <a:off x="4377501" y="3427095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BF11-AA38-AF3B-8912-BBDA214300DC}"/>
              </a:ext>
            </a:extLst>
          </p:cNvPr>
          <p:cNvSpPr txBox="1"/>
          <p:nvPr/>
        </p:nvSpPr>
        <p:spPr>
          <a:xfrm>
            <a:off x="3321722" y="2177196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275956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update</a:t>
            </a:r>
            <a:endParaRPr lang="en-US" altLang="zh-CN" sz="2400" i="1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56CDDEF-FAC4-72F7-C941-C94A746E9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9"/>
            <a:ext cx="7772400" cy="5544616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  <a:latin typeface="Arial" panose="020B0604020202020204" pitchFamily="34" charset="0"/>
              </a:rPr>
              <a:t>Update</a:t>
            </a:r>
            <a:r>
              <a:rPr lang="en-US" altLang="zh-CN" sz="1600" dirty="0">
                <a:latin typeface="Arial" panose="020B0604020202020204" pitchFamily="34" charset="0"/>
              </a:rPr>
              <a:t> (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node,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start,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end,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Base Case: Leaf Node found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dirty="0">
                <a:latin typeface="Arial" panose="020B0604020202020204" pitchFamily="34" charset="0"/>
              </a:rPr>
              <a:t> ( start == end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tree[ node ] =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6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Recursive Step: Go left or right depending on where “</a:t>
            </a:r>
            <a:r>
              <a:rPr lang="en-US" altLang="zh-CN" sz="1600" dirty="0" err="1">
                <a:solidFill>
                  <a:srgbClr val="008000"/>
                </a:solidFill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” is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mid = (start + end) /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dirty="0">
                <a:latin typeface="Arial" panose="020B0604020202020204" pitchFamily="34" charset="0"/>
              </a:rPr>
              <a:t> ( start &lt;=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 &amp;&amp;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 &lt;= mid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Index is in the left child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chemeClr val="accent6"/>
                </a:solidFill>
                <a:latin typeface="Arial" panose="020B0604020202020204" pitchFamily="34" charset="0"/>
              </a:rPr>
              <a:t>Update </a:t>
            </a:r>
            <a:r>
              <a:rPr lang="en-US" altLang="zh-CN" sz="1600" dirty="0">
                <a:latin typeface="Arial" panose="020B0604020202020204" pitchFamily="34" charset="0"/>
              </a:rPr>
              <a:t>(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node, start, mid,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}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600" dirty="0">
                <a:latin typeface="Arial" panose="020B0604020202020204" pitchFamily="34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Index is in the right child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chemeClr val="accent6"/>
                </a:solidFill>
                <a:latin typeface="Arial" panose="020B0604020202020204" pitchFamily="34" charset="0"/>
              </a:rPr>
              <a:t>Update </a:t>
            </a:r>
            <a:r>
              <a:rPr lang="en-US" altLang="zh-CN" sz="1600" dirty="0">
                <a:latin typeface="Arial" panose="020B0604020202020204" pitchFamily="34" charset="0"/>
              </a:rPr>
              <a:t>(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 +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</a:rPr>
              <a:t>, mid +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</a:rPr>
              <a:t>, end,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Backtracking Step: Update current node based on new children values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tree[ node ] = tree[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 ] + tree[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 +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 </a:t>
            </a:r>
            <a:r>
              <a:rPr lang="en-US" altLang="zh-CN" sz="1600" dirty="0">
                <a:latin typeface="Arial" panose="020B0604020202020204" pitchFamily="34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E761A-885F-D12E-53B7-3DA51E021654}"/>
              </a:ext>
            </a:extLst>
          </p:cNvPr>
          <p:cNvSpPr txBox="1"/>
          <p:nvPr/>
        </p:nvSpPr>
        <p:spPr>
          <a:xfrm>
            <a:off x="5148064" y="332655"/>
            <a:ext cx="324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ym typeface="Wingdings" pitchFamily="2" charset="2"/>
              </a:rPr>
              <a:t>👍 </a:t>
            </a:r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log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88212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7" grpId="0" animBg="1" autoUpdateAnimBg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notes</a:t>
            </a:r>
            <a:endParaRPr lang="en-US" altLang="zh-CN" sz="24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B3CFE9-EB3F-F7CB-8D68-97613BF41D1A}"/>
              </a:ext>
            </a:extLst>
          </p:cNvPr>
          <p:cNvSpPr txBox="1"/>
          <p:nvPr/>
        </p:nvSpPr>
        <p:spPr>
          <a:xfrm>
            <a:off x="304800" y="1412776"/>
            <a:ext cx="8659688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CN" dirty="0"/>
              <a:t>Not limited to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CN" dirty="0"/>
              <a:t>, but applicable to any </a:t>
            </a:r>
            <a:r>
              <a:rPr lang="en-CN" i="1" dirty="0"/>
              <a:t>aggregation</a:t>
            </a:r>
            <a:r>
              <a:rPr lang="en-CN" dirty="0"/>
              <a:t> </a:t>
            </a:r>
            <a:r>
              <a:rPr lang="en-CN" i="1" dirty="0"/>
              <a:t>operator</a:t>
            </a:r>
            <a:r>
              <a:rPr lang="en-CN" dirty="0"/>
              <a:t> over a </a:t>
            </a:r>
            <a:r>
              <a:rPr lang="en-CN" i="1" dirty="0">
                <a:solidFill>
                  <a:srgbClr val="FF0000"/>
                </a:solidFill>
              </a:rPr>
              <a:t>range</a:t>
            </a:r>
            <a:r>
              <a:rPr lang="en-CN" dirty="0"/>
              <a:t>, such as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n-CN" dirty="0"/>
              <a:t>,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CN" dirty="0"/>
              <a:t>, or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CN" dirty="0"/>
              <a:t>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CN" dirty="0"/>
              <a:t>For more general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RangeUpdate</a:t>
            </a:r>
            <a:r>
              <a:rPr lang="en-CN" i="1" dirty="0"/>
              <a:t> </a:t>
            </a:r>
            <a:r>
              <a:rPr lang="en-US" dirty="0"/>
              <a:t>(e.g., add 10 to all numbers from index 2 to 1000)</a:t>
            </a:r>
            <a:r>
              <a:rPr lang="en-CN" dirty="0"/>
              <a:t>, the </a:t>
            </a:r>
            <a:r>
              <a:rPr lang="en-CN" i="1" dirty="0"/>
              <a:t>lazy propagation </a:t>
            </a:r>
            <a:r>
              <a:rPr lang="en-CN" dirty="0"/>
              <a:t>strategy is effective (self study).</a:t>
            </a:r>
          </a:p>
        </p:txBody>
      </p:sp>
    </p:spTree>
    <p:extLst>
      <p:ext uri="{BB962C8B-B14F-4D97-AF65-F5344CB8AC3E}">
        <p14:creationId xmlns:p14="http://schemas.microsoft.com/office/powerpoint/2010/main" val="330346073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7419</TotalTime>
  <Words>1123</Words>
  <Application>Microsoft Macintosh PowerPoint</Application>
  <PresentationFormat>On-screen Show (4:3)</PresentationFormat>
  <Paragraphs>270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Webdings</vt:lpstr>
      <vt:lpstr>Wingdings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rz</dc:creator>
  <cp:lastModifiedBy>陈翔</cp:lastModifiedBy>
  <cp:revision>559</cp:revision>
  <dcterms:created xsi:type="dcterms:W3CDTF">2000-07-24T11:13:48Z</dcterms:created>
  <dcterms:modified xsi:type="dcterms:W3CDTF">2026-05-11T02:32:23Z</dcterms:modified>
</cp:coreProperties>
</file>